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Cartes Spyre sur IBM Power11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Accélération IA/ML pour IBM i</a:t>
            </a:r>
          </a:p>
          <a:p>
            <a:r>
              <a:t>Cas d'usage et Offre Commerciale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Vue d'ensemble des cartes Spyre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Accélérateurs PCIe Gen5 pour IA et Machine Learning</a:t>
            </a:r>
          </a:p>
          <a:p>
            <a:pPr>
              <a:defRPr sz="1800"/>
            </a:pPr>
            <a:r>
              <a:t>Intégration native avec IBM Power11 et IBM i</a:t>
            </a:r>
          </a:p>
          <a:p>
            <a:pPr>
              <a:defRPr sz="1800"/>
            </a:pPr>
            <a:r>
              <a:t>Performance jusqu'à 25x supérieure pour les tâches ML</a:t>
            </a:r>
          </a:p>
          <a:p>
            <a:pPr>
              <a:defRPr sz="1800"/>
            </a:pPr>
            <a:r>
              <a:t>Support TensorFlow, PyTorch, ONNX Runtime</a:t>
            </a:r>
          </a:p>
          <a:p>
            <a:pPr>
              <a:defRPr sz="1800"/>
            </a:pPr>
            <a:r>
              <a:t>Pas de migration nécessaire - Intégration transparente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d'intégration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Connexion PCIe directe au système Power11</a:t>
            </a:r>
          </a:p>
          <a:p>
            <a:pPr>
              <a:defRPr sz="1800"/>
            </a:pPr>
            <a:r>
              <a:t>API REST pour intégration depuis RPG/COBOL/SQL</a:t>
            </a:r>
          </a:p>
          <a:p>
            <a:pPr>
              <a:defRPr sz="1800"/>
            </a:pPr>
            <a:r>
              <a:t>Stored Procedures SQL pour appels simplifiés</a:t>
            </a:r>
          </a:p>
          <a:p>
            <a:pPr>
              <a:defRPr sz="1800"/>
            </a:pPr>
            <a:r>
              <a:t>Support Python via PASE pour développements avancés</a:t>
            </a:r>
          </a:p>
          <a:p>
            <a:pPr>
              <a:defRPr sz="1800"/>
            </a:pPr>
            <a:r>
              <a:t>Isolation et sécurité au niveau partition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d'usage 1: Détection de Fraude (Banque)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CONTEXTE:</a:t>
            </a:r>
          </a:p>
          <a:p>
            <a:pPr>
              <a:defRPr sz="1400"/>
            </a:pPr>
            <a:r>
              <a:t>• Analyse temps réel des transactions</a:t>
            </a:r>
          </a:p>
          <a:p>
            <a:pPr>
              <a:defRPr sz="1400"/>
            </a:pPr>
            <a:r>
              <a:t>• Détection de patterns frauduleux</a:t>
            </a:r>
          </a:p>
          <a:p>
            <a:pPr>
              <a:defRPr sz="1400"/>
            </a:pPr>
            <a:r>
              <a:t>• Intégration avec DB2 for i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 SPYRE:</a:t>
            </a:r>
          </a:p>
          <a:p>
            <a:pPr>
              <a:defRPr sz="1400"/>
            </a:pPr>
            <a:r>
              <a:t>• 10 000+ transactions/seconde</a:t>
            </a:r>
          </a:p>
          <a:p>
            <a:pPr>
              <a:defRPr sz="1400"/>
            </a:pPr>
            <a:r>
              <a:t>• Analyse en moins de 50ms</a:t>
            </a:r>
          </a:p>
          <a:p>
            <a:pPr>
              <a:defRPr sz="1400"/>
            </a:pPr>
            <a:r>
              <a:t>• Modèle ML de détection d'anomalies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BÉNÉFICES:</a:t>
            </a:r>
          </a:p>
          <a:p>
            <a:pPr>
              <a:defRPr sz="1400"/>
            </a:pPr>
            <a:r>
              <a:t>• Réduction de 95% du temps de détection</a:t>
            </a:r>
          </a:p>
          <a:p>
            <a:pPr>
              <a:defRPr sz="1400"/>
            </a:pPr>
            <a:r>
              <a:t>• Diminution de 70% des faux positifs</a:t>
            </a:r>
          </a:p>
          <a:p>
            <a:pPr>
              <a:defRPr sz="1400"/>
            </a:pPr>
            <a:r>
              <a:t>• Aucun impact sur applications métier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ROI:</a:t>
            </a:r>
          </a:p>
          <a:p>
            <a:pPr>
              <a:defRPr sz="1400"/>
            </a:pPr>
            <a:r>
              <a:t>• Économie: 500K€/an</a:t>
            </a:r>
          </a:p>
          <a:p>
            <a:pPr>
              <a:defRPr sz="1400"/>
            </a:pPr>
            <a:r>
              <a:t>• Retour sur investissement: 18 mois</a:t>
            </a:r>
          </a:p>
          <a:p>
            <a:pPr>
              <a:defRPr sz="1400"/>
            </a:pPr>
            <a:r>
              <a:t>• Amélioration satisfaction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d'usage 2: Optimisation Chaîne Logistique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CONTEXTE:</a:t>
            </a:r>
          </a:p>
          <a:p>
            <a:pPr>
              <a:defRPr sz="1400"/>
            </a:pPr>
            <a:r>
              <a:t>• Gestion stocks et production sur IBM i</a:t>
            </a:r>
          </a:p>
          <a:p>
            <a:pPr>
              <a:defRPr sz="1400"/>
            </a:pPr>
            <a:r>
              <a:t>• Prévisions de demande complexes</a:t>
            </a:r>
          </a:p>
          <a:p>
            <a:pPr>
              <a:defRPr sz="1400"/>
            </a:pPr>
            <a:r>
              <a:t>• Optimisation inventaire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 SPYRE:</a:t>
            </a:r>
          </a:p>
          <a:p>
            <a:pPr>
              <a:defRPr sz="1400"/>
            </a:pPr>
            <a:r>
              <a:t>• Prédiction de demande ML</a:t>
            </a:r>
          </a:p>
          <a:p>
            <a:pPr>
              <a:defRPr sz="1400"/>
            </a:pPr>
            <a:r>
              <a:t>• Calcul temps réel niveaux optimaux</a:t>
            </a:r>
          </a:p>
          <a:p>
            <a:pPr>
              <a:defRPr sz="1400"/>
            </a:pPr>
            <a:r>
              <a:t>• Planification production dynamique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RÉSULTATS:</a:t>
            </a:r>
          </a:p>
          <a:p>
            <a:pPr>
              <a:defRPr sz="1400"/>
            </a:pPr>
            <a:r>
              <a:t>• Réduction 30% ruptures de stock</a:t>
            </a:r>
          </a:p>
          <a:p>
            <a:pPr>
              <a:defRPr sz="1400"/>
            </a:pPr>
            <a:r>
              <a:t>• Diminution 25% coûts inventaire</a:t>
            </a:r>
          </a:p>
          <a:p>
            <a:pPr>
              <a:defRPr sz="1400"/>
            </a:pPr>
            <a:r>
              <a:t>• Amélioration 40% précision prévisions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IMPACT BUSINESS:</a:t>
            </a:r>
          </a:p>
          <a:p>
            <a:pPr>
              <a:defRPr sz="1400"/>
            </a:pPr>
            <a:r>
              <a:t>• Économie: 1.2M€/an</a:t>
            </a:r>
          </a:p>
          <a:p>
            <a:pPr>
              <a:defRPr sz="1400"/>
            </a:pPr>
            <a:r>
              <a:t>• Amélioration service client</a:t>
            </a:r>
          </a:p>
          <a:p>
            <a:pPr>
              <a:defRPr sz="1400"/>
            </a:pPr>
            <a:r>
              <a:t>• Optimisation trésorerie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d'usage 3: Analyse Sentiment Client (Retail)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CONTEXTE:</a:t>
            </a:r>
          </a:p>
          <a:p>
            <a:pPr>
              <a:defRPr sz="1400"/>
            </a:pPr>
            <a:r>
              <a:t>• Milliers d'avis clients quotidiens</a:t>
            </a:r>
          </a:p>
          <a:p>
            <a:pPr>
              <a:defRPr sz="1400"/>
            </a:pPr>
            <a:r>
              <a:t>• Analyse manuelle impossible</a:t>
            </a:r>
          </a:p>
          <a:p>
            <a:pPr>
              <a:defRPr sz="1400"/>
            </a:pPr>
            <a:r>
              <a:t>• Besoin insights temps réel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 SPYRE:</a:t>
            </a:r>
          </a:p>
          <a:p>
            <a:pPr>
              <a:defRPr sz="1400"/>
            </a:pPr>
            <a:r>
              <a:t>• NLP accéléré sur Spyre</a:t>
            </a:r>
          </a:p>
          <a:p>
            <a:pPr>
              <a:defRPr sz="1400"/>
            </a:pPr>
            <a:r>
              <a:t>• Classification sentiment automatique</a:t>
            </a:r>
          </a:p>
          <a:p>
            <a:pPr>
              <a:defRPr sz="1400"/>
            </a:pPr>
            <a:r>
              <a:t>• Extraction insights récurrents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PERFORMANCE:</a:t>
            </a:r>
          </a:p>
          <a:p>
            <a:pPr>
              <a:defRPr sz="1400"/>
            </a:pPr>
            <a:r>
              <a:t>• 50 000 avis traités/heure</a:t>
            </a:r>
          </a:p>
          <a:p>
            <a:pPr>
              <a:defRPr sz="1400"/>
            </a:pPr>
            <a:r>
              <a:t>• Précision 92% classification</a:t>
            </a:r>
          </a:p>
          <a:p>
            <a:pPr>
              <a:defRPr sz="1400"/>
            </a:pPr>
            <a:r>
              <a:t>• Temps réponse: 100ms/avis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VALEUR AJOUTÉE:</a:t>
            </a:r>
          </a:p>
          <a:p>
            <a:pPr>
              <a:defRPr sz="1400"/>
            </a:pPr>
            <a:r>
              <a:t>• Réactivité améliorée</a:t>
            </a:r>
          </a:p>
          <a:p>
            <a:pPr>
              <a:defRPr sz="1400"/>
            </a:pPr>
            <a:r>
              <a:t>• Identification problèmes rapide</a:t>
            </a:r>
          </a:p>
          <a:p>
            <a:pPr>
              <a:defRPr sz="1400"/>
            </a:pPr>
            <a:r>
              <a:t>• Tableaux de bord temps réel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d'usage 4: Maintenance Prédictive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CONTEXTE:</a:t>
            </a:r>
          </a:p>
          <a:p>
            <a:pPr>
              <a:defRPr sz="1400"/>
            </a:pPr>
            <a:r>
              <a:t>• Équipements industriels connectés</a:t>
            </a:r>
          </a:p>
          <a:p>
            <a:pPr>
              <a:defRPr sz="1400"/>
            </a:pPr>
            <a:r>
              <a:t>• Données IoT sur IBM i</a:t>
            </a:r>
          </a:p>
          <a:p>
            <a:pPr>
              <a:defRPr sz="1400"/>
            </a:pPr>
            <a:r>
              <a:t>• Coûts arrêts production élevés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 SPYRE:</a:t>
            </a:r>
          </a:p>
          <a:p>
            <a:pPr>
              <a:defRPr sz="1400"/>
            </a:pPr>
            <a:r>
              <a:t>• Analyse séries temporelles</a:t>
            </a:r>
          </a:p>
          <a:p>
            <a:pPr>
              <a:defRPr sz="1400"/>
            </a:pPr>
            <a:r>
              <a:t>• Prédiction pannes 7-14 jours avance</a:t>
            </a:r>
          </a:p>
          <a:p>
            <a:pPr>
              <a:defRPr sz="1400"/>
            </a:pPr>
            <a:r>
              <a:t>• 1000+ capteurs temps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ROI EXCEPTIONNEL:</a:t>
            </a:r>
          </a:p>
          <a:p>
            <a:pPr>
              <a:defRPr sz="1400"/>
            </a:pPr>
            <a:r>
              <a:t>• Réduction 45% arrêts non planifiés</a:t>
            </a:r>
          </a:p>
          <a:p>
            <a:pPr>
              <a:defRPr sz="1400"/>
            </a:pPr>
            <a:r>
              <a:t>• Économie: 2M€/an maintenance</a:t>
            </a:r>
          </a:p>
          <a:p>
            <a:pPr>
              <a:defRPr sz="1400"/>
            </a:pPr>
            <a:r>
              <a:t>• +15% disponibilité équipements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DONNÉES TRAITÉES:</a:t>
            </a:r>
          </a:p>
          <a:p>
            <a:pPr>
              <a:defRPr sz="1400"/>
            </a:pPr>
            <a:r>
              <a:t>• Température, vibrations, électricité</a:t>
            </a:r>
          </a:p>
          <a:p>
            <a:pPr>
              <a:defRPr sz="1400"/>
            </a:pPr>
            <a:r>
              <a:t>• 5 ans historique maintenance</a:t>
            </a:r>
          </a:p>
          <a:p>
            <a:pPr>
              <a:defRPr sz="1400"/>
            </a:pPr>
            <a:r>
              <a:t>• Corrélation multi-sources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d'usage 5: Scoring Crédit Avancé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CONTEXTE:</a:t>
            </a:r>
          </a:p>
          <a:p>
            <a:pPr>
              <a:defRPr sz="1400"/>
            </a:pPr>
            <a:r>
              <a:t>• Évaluation demandes crédit</a:t>
            </a:r>
          </a:p>
          <a:p>
            <a:pPr>
              <a:defRPr sz="1400"/>
            </a:pPr>
            <a:r>
              <a:t>• Modèles complexes nécessaires</a:t>
            </a:r>
          </a:p>
          <a:p>
            <a:pPr>
              <a:defRPr sz="1400"/>
            </a:pPr>
            <a:r>
              <a:t>• Décision rapide requise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 SPYRE:</a:t>
            </a:r>
          </a:p>
          <a:p>
            <a:pPr>
              <a:defRPr sz="1400"/>
            </a:pPr>
            <a:r>
              <a:t>• Réseaux neurones profonds</a:t>
            </a:r>
          </a:p>
          <a:p>
            <a:pPr>
              <a:defRPr sz="1400"/>
            </a:pPr>
            <a:r>
              <a:t>• 200+ critères évaluation</a:t>
            </a:r>
          </a:p>
          <a:p>
            <a:pPr>
              <a:defRPr sz="1400"/>
            </a:pPr>
            <a:r>
              <a:t>• Réponse en moins de 2 secondes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AVANTAGES:</a:t>
            </a:r>
          </a:p>
          <a:p>
            <a:pPr>
              <a:defRPr sz="1400"/>
            </a:pPr>
            <a:r>
              <a:t>• 5000 demandes traitées/jour</a:t>
            </a:r>
          </a:p>
          <a:p>
            <a:pPr>
              <a:defRPr sz="1400"/>
            </a:pPr>
            <a:r>
              <a:t>• +35% précision scoring</a:t>
            </a:r>
          </a:p>
          <a:p>
            <a:pPr>
              <a:defRPr sz="1400"/>
            </a:pPr>
            <a:r>
              <a:t>• -60% temps traitement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INTÉGRATION RPG:</a:t>
            </a:r>
          </a:p>
          <a:p>
            <a:pPr>
              <a:defRPr sz="1400"/>
            </a:pPr>
            <a:r>
              <a:t>• Appel natif depuis RPG</a:t>
            </a:r>
          </a:p>
          <a:p>
            <a:pPr>
              <a:defRPr sz="1400"/>
            </a:pPr>
            <a:r>
              <a:t>• Approbation automatique</a:t>
            </a:r>
          </a:p>
          <a:p>
            <a:pPr>
              <a:defRPr sz="1400"/>
            </a:pPr>
            <a:r>
              <a:t>• Traçabilité complète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Autres cas d'usage Spyre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Télécoms: Détection anomalies réseau et prévention fraude</a:t>
            </a:r>
          </a:p>
          <a:p>
            <a:pPr>
              <a:defRPr sz="1800"/>
            </a:pPr>
            <a:r>
              <a:t>E-commerce: Recommandations produits et pricing dynamique</a:t>
            </a:r>
          </a:p>
          <a:p>
            <a:pPr>
              <a:defRPr sz="1800"/>
            </a:pPr>
            <a:r>
              <a:t>Assurance: OCR et analyse automatique de documents</a:t>
            </a:r>
          </a:p>
          <a:p>
            <a:pPr>
              <a:defRPr sz="1800"/>
            </a:pPr>
            <a:r>
              <a:t>Santé: Analyse d'images médicales et diagnostics assistés</a:t>
            </a:r>
          </a:p>
          <a:p>
            <a:pPr>
              <a:defRPr sz="1800"/>
            </a:pPr>
            <a:r>
              <a:t>Transport: Optimisation routes et maintenance prédictive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Performance: CPU vs Spyre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Tâche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CPU seul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Avec Spyre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Inférence ML (1000 req)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22.5x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Analyse NLP (10k docs)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22.5x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Vision par ordinateur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25x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Détection anomalies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22.5x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MATÉRIEL:</a:t>
            </a:r>
          </a:p>
          <a:p>
            <a:pPr>
              <a:defRPr sz="1400"/>
            </a:pPr>
            <a:r>
              <a:t>• IBM Power11 (S1014, S1022s, S1024, E1050)</a:t>
            </a:r>
          </a:p>
          <a:p>
            <a:pPr>
              <a:defRPr sz="1400"/>
            </a:pPr>
            <a:r>
              <a:t>• Carte Spyre PCIe Gen5</a:t>
            </a:r>
          </a:p>
          <a:p>
            <a:pPr>
              <a:defRPr sz="1400"/>
            </a:pPr>
            <a:r>
              <a:t>• Minimum 64GB RAM</a:t>
            </a:r>
          </a:p>
          <a:p>
            <a:pPr>
              <a:defRPr sz="1400"/>
            </a:pPr>
            <a:r>
              <a:t>• IBM i 7.5 TR2 ou supérieur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LOGICIEL:</a:t>
            </a:r>
          </a:p>
          <a:p>
            <a:pPr>
              <a:defRPr sz="1400"/>
            </a:pPr>
            <a:r>
              <a:t>• IBM i Access Client Solutions</a:t>
            </a:r>
          </a:p>
          <a:p>
            <a:pPr>
              <a:defRPr sz="1400"/>
            </a:pPr>
            <a:r>
              <a:t>• Python 3.9+ (via PASE)</a:t>
            </a:r>
          </a:p>
          <a:p>
            <a:pPr>
              <a:defRPr sz="1400"/>
            </a:pPr>
            <a:r>
              <a:t>• Node.js (optionnel)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RÉSEAU:</a:t>
            </a:r>
          </a:p>
          <a:p>
            <a:pPr>
              <a:defRPr sz="1400"/>
            </a:pPr>
            <a:r>
              <a:t>• Connectivité PCIe interne</a:t>
            </a:r>
          </a:p>
          <a:p>
            <a:pPr>
              <a:defRPr sz="1400"/>
            </a:pPr>
            <a:r>
              <a:t>• API REST pour intégration</a:t>
            </a:r>
          </a:p>
          <a:p>
            <a:pPr>
              <a:defRPr sz="1400"/>
            </a:pPr>
            <a:r>
              <a:t>• Message broker (optionnel)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SÉCURITÉ:</a:t>
            </a:r>
          </a:p>
          <a:p>
            <a:pPr>
              <a:defRPr sz="1400"/>
            </a:pPr>
            <a:r>
              <a:t>• Isolation par partition</a:t>
            </a:r>
          </a:p>
          <a:p>
            <a:pPr>
              <a:defRPr sz="1400"/>
            </a:pPr>
            <a:r>
              <a:t>• Chiffrement données transit</a:t>
            </a:r>
          </a:p>
          <a:p>
            <a:pPr>
              <a:defRPr sz="1400"/>
            </a:pPr>
            <a:r>
              <a:t>• Audit complet des accès</a:t>
            </a:r>
          </a:p>
          <a:p>
            <a:pPr>
              <a:defRPr sz="1400"/>
            </a:pPr>
            <a:r>
              <a:t>• Conformité RGPD, PCI-DSS, SOX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d'Implémentation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1 - POC (2-4 semaines): Installation, config, test modèle</a:t>
            </a:r>
          </a:p>
          <a:p>
            <a:pPr>
              <a:defRPr sz="1800"/>
            </a:pPr>
            <a:r>
              <a:t>Phase 2 - Développement (6-8 semaines): API, modèles métier, tests</a:t>
            </a:r>
          </a:p>
          <a:p>
            <a:pPr>
              <a:defRPr sz="1800"/>
            </a:pPr>
            <a:r>
              <a:t>Phase 3 - Pilote (4-6 semaines): Déploiement use case, monitoring</a:t>
            </a:r>
          </a:p>
          <a:p>
            <a:pPr>
              <a:defRPr sz="1800"/>
            </a:pPr>
            <a:r>
              <a:t>Phase 4 - Production (2-4 semaines): Déploiement complet, support</a:t>
            </a:r>
          </a:p>
          <a:p>
            <a:pPr>
              <a:defRPr sz="1800"/>
            </a:pPr>
            <a:r>
              <a:t>Durée totale: 14-22 semaines selon complexité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Offre Commerciale Bundle Spyre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Configuration Power11 avec accélération 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IBM Power11 Recommandée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Modèle: IBM Power S1024 (Scale-out 4U)</a:t>
            </a:r>
          </a:p>
          <a:p>
            <a:pPr>
              <a:defRPr sz="1800"/>
            </a:pPr>
            <a:r>
              <a:t>Processeurs: 2x Power11 (24 cores activés)</a:t>
            </a:r>
          </a:p>
          <a:p>
            <a:pPr>
              <a:defRPr sz="1800"/>
            </a:pPr>
            <a:r>
              <a:t>Mémoire: 256GB DDR5</a:t>
            </a:r>
          </a:p>
          <a:p>
            <a:pPr>
              <a:defRPr sz="1800"/>
            </a:pPr>
            <a:r>
              <a:t>Stockage: 4x 1.92TB SSD NVMe + contrôleur RAID</a:t>
            </a:r>
          </a:p>
          <a:p>
            <a:pPr>
              <a:defRPr sz="1800"/>
            </a:pPr>
            <a:r>
              <a:t>Carte Spyre: 1x Spyre PCIe Gen5 Accelerator</a:t>
            </a:r>
          </a:p>
          <a:p>
            <a:pPr>
              <a:defRPr sz="1800"/>
            </a:pPr>
            <a:r>
              <a:t>OS: IBM i 7.5 TR3 + licences utilisateurs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Bundle Spyre pour Power11 - Détails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MATÉRIEL INCLUS:</a:t>
            </a:r>
          </a:p>
          <a:p>
            <a:pPr>
              <a:defRPr sz="1400"/>
            </a:pPr>
            <a:r>
              <a:t>• Serveur Power11 S1024</a:t>
            </a:r>
          </a:p>
          <a:p>
            <a:pPr>
              <a:defRPr sz="1400"/>
            </a:pPr>
            <a:r>
              <a:t>• 1x Carte Spyre PCIe Gen5</a:t>
            </a:r>
          </a:p>
          <a:p>
            <a:pPr>
              <a:defRPr sz="1400"/>
            </a:pPr>
            <a:r>
              <a:t>• Configuration réseau redondante</a:t>
            </a:r>
          </a:p>
          <a:p>
            <a:pPr>
              <a:defRPr sz="1400"/>
            </a:pPr>
            <a:r>
              <a:t>• Rails rack + câbles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LOGICIELS INCLUS:</a:t>
            </a:r>
          </a:p>
          <a:p>
            <a:pPr>
              <a:defRPr sz="1400"/>
            </a:pPr>
            <a:r>
              <a:t>• IBM i 7.5 TR3</a:t>
            </a:r>
          </a:p>
          <a:p>
            <a:pPr>
              <a:defRPr sz="1400"/>
            </a:pPr>
            <a:r>
              <a:t>• Spyre SDK et Runtime</a:t>
            </a:r>
          </a:p>
          <a:p>
            <a:pPr>
              <a:defRPr sz="1400"/>
            </a:pPr>
            <a:r>
              <a:t>• Outils développement ML</a:t>
            </a:r>
          </a:p>
          <a:p>
            <a:pPr>
              <a:defRPr sz="1400"/>
            </a:pPr>
            <a:r>
              <a:t>• Ansible pour IBM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SERVICES INCLUS:</a:t>
            </a:r>
          </a:p>
          <a:p>
            <a:pPr>
              <a:defRPr sz="1400"/>
            </a:pPr>
            <a:r>
              <a:t>• Installation et configuration</a:t>
            </a:r>
          </a:p>
          <a:p>
            <a:pPr>
              <a:defRPr sz="1400"/>
            </a:pPr>
            <a:r>
              <a:t>• Formation 3 jours équipe technique</a:t>
            </a:r>
          </a:p>
          <a:p>
            <a:pPr>
              <a:defRPr sz="1400"/>
            </a:pPr>
            <a:r>
              <a:t>• POC sur 1 cas d'usage</a:t>
            </a:r>
          </a:p>
          <a:p>
            <a:pPr>
              <a:defRPr sz="1400"/>
            </a:pPr>
            <a:r>
              <a:t>• Support 12 mois (9x5)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OPTIONS:</a:t>
            </a:r>
          </a:p>
          <a:p>
            <a:pPr>
              <a:defRPr sz="1400"/>
            </a:pPr>
            <a:r>
              <a:t>• Support 24x7 (+15%)</a:t>
            </a:r>
          </a:p>
          <a:p>
            <a:pPr>
              <a:defRPr sz="1400"/>
            </a:pPr>
            <a:r>
              <a:t>• Cartes Spyre additionnelles</a:t>
            </a:r>
          </a:p>
          <a:p>
            <a:pPr>
              <a:defRPr sz="1400"/>
            </a:pPr>
            <a:r>
              <a:t>• Services développement ML</a:t>
            </a:r>
          </a:p>
          <a:p>
            <a:pPr>
              <a:defRPr sz="1400"/>
            </a:pPr>
            <a:r>
              <a:t>• Formation avancée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Tarification Bundle Spyre P11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3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Composant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Prix Unitaire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Quantité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Power11 S1024 configuré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185 000 €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185 000 €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Carte Spyre PCIe Gen5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45 000 €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IBM i 7.5 + licences (50 users)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35 000 €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Services installation/formation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15 000 €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 12 mois (9x5)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12 000 €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12 000 €</a:t>
                      </a:r>
                    </a:p>
                  </a:txBody>
                  <a:tcPr/>
                </a:tc>
              </a:tr>
              <a:tr h="65316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292 000 €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Options et Extensions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53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Prix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Carte Spyre additionnelle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Scaling performance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45 000 €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 24x7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 premium 24h/24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+15% annuel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Formation ML avancée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jours développement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8 500 €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Services développement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Développement modèles 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1 200 €/jour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Stockage additionnel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4x 3.84TB SSD NVMe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18 000 €</a:t>
                      </a:r>
                    </a:p>
                  </a:txBody>
                  <a:tcPr/>
                </a:tc>
              </a:tr>
              <a:tr h="653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Mémoire additionnelle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+256GB DDR5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22 000 €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Modèles de Financement Disponibles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ACHAT DIRECT:</a:t>
            </a:r>
          </a:p>
          <a:p>
            <a:pPr>
              <a:defRPr sz="1400"/>
            </a:pPr>
            <a:r>
              <a:t>• Investissement: 292 000 € HT</a:t>
            </a:r>
          </a:p>
          <a:p>
            <a:pPr>
              <a:defRPr sz="1400"/>
            </a:pPr>
            <a:r>
              <a:t>• Propriété immédiate</a:t>
            </a:r>
          </a:p>
          <a:p>
            <a:pPr>
              <a:defRPr sz="1400"/>
            </a:pPr>
            <a:r>
              <a:t>• Amortissement 3-5 ans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LOCATION FINANCIÈRE (36 mois):</a:t>
            </a:r>
          </a:p>
          <a:p>
            <a:pPr>
              <a:defRPr sz="1400"/>
            </a:pPr>
            <a:r>
              <a:t>• Mensualité: 8 900 € HT</a:t>
            </a:r>
          </a:p>
          <a:p>
            <a:pPr>
              <a:defRPr sz="1400"/>
            </a:pPr>
            <a:r>
              <a:t>• Option d'achat en fin de contrat</a:t>
            </a:r>
          </a:p>
          <a:p>
            <a:pPr>
              <a:defRPr sz="1400"/>
            </a:pPr>
            <a:r>
              <a:t>• Préservation trésorerie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LOCATION OPÉRATIONNELLE (36 mois):</a:t>
            </a:r>
          </a:p>
          <a:p>
            <a:pPr>
              <a:defRPr sz="1400"/>
            </a:pPr>
            <a:r>
              <a:t>• Mensualité: 9 500 € HT</a:t>
            </a:r>
          </a:p>
          <a:p>
            <a:pPr>
              <a:defRPr sz="1400"/>
            </a:pPr>
            <a:r>
              <a:t>• Upgrade technologique inclus</a:t>
            </a:r>
          </a:p>
          <a:p>
            <a:pPr>
              <a:defRPr sz="1400"/>
            </a:pPr>
            <a:r>
              <a:t>• Charges déductibles 100%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PAY-PER-USE (Cloud):</a:t>
            </a:r>
          </a:p>
          <a:p>
            <a:pPr>
              <a:defRPr sz="1400"/>
            </a:pPr>
            <a:r>
              <a:t>• Facturation à l'usage</a:t>
            </a:r>
          </a:p>
          <a:p>
            <a:pPr>
              <a:defRPr sz="1400"/>
            </a:pPr>
            <a:r>
              <a:t>• Flexibilité maximale</a:t>
            </a:r>
          </a:p>
          <a:p>
            <a:pPr>
              <a:defRPr sz="1400"/>
            </a:pPr>
            <a:r>
              <a:t>• Idéal pour POC/pilotes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et Bénéfices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GAINS QUANTIFIABLES:</a:t>
            </a:r>
          </a:p>
          <a:p>
            <a:pPr>
              <a:defRPr sz="1400"/>
            </a:pPr>
            <a:r>
              <a:t>• Performance ML: 20-25x plus rapide</a:t>
            </a:r>
          </a:p>
          <a:p>
            <a:pPr>
              <a:defRPr sz="1400"/>
            </a:pPr>
            <a:r>
              <a:t>• Réduction coûts infra IA: 30-40%</a:t>
            </a:r>
          </a:p>
          <a:p>
            <a:pPr>
              <a:defRPr sz="1400"/>
            </a:pPr>
            <a:r>
              <a:t>• Économies opérationnelles: 500K-2M€/an</a:t>
            </a:r>
          </a:p>
          <a:p>
            <a:pPr>
              <a:defRPr sz="1400"/>
            </a:pPr>
            <a:r>
              <a:t>• Pas de migration nécessaire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ROI MOYEN:</a:t>
            </a:r>
          </a:p>
          <a:p>
            <a:pPr>
              <a:defRPr sz="1400"/>
            </a:pPr>
            <a:r>
              <a:t>• Retour sur investissement: 18-24 mois</a:t>
            </a:r>
          </a:p>
          <a:p>
            <a:pPr>
              <a:defRPr sz="1400"/>
            </a:pPr>
            <a:r>
              <a:t>• Break-even typique: 15-20 mois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BÉNÉFICES STRATÉGIQUES:</a:t>
            </a:r>
          </a:p>
          <a:p>
            <a:pPr>
              <a:defRPr sz="1400"/>
            </a:pPr>
            <a:r>
              <a:t>• Innovation sans disruption</a:t>
            </a:r>
          </a:p>
          <a:p>
            <a:pPr>
              <a:defRPr sz="1400"/>
            </a:pPr>
            <a:r>
              <a:t>• Time-to-market réduit</a:t>
            </a:r>
          </a:p>
          <a:p>
            <a:pPr>
              <a:defRPr sz="1400"/>
            </a:pPr>
            <a:r>
              <a:t>• Avantage compétitif IA</a:t>
            </a:r>
          </a:p>
          <a:p>
            <a:pPr>
              <a:defRPr sz="1400"/>
            </a:pPr>
            <a:r>
              <a:t>• Valorisation données existantes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RISQUES MINIMISÉS:</a:t>
            </a:r>
          </a:p>
          <a:p>
            <a:pPr>
              <a:defRPr sz="1400"/>
            </a:pPr>
            <a:r>
              <a:t>• Pas de réécriture applications</a:t>
            </a:r>
          </a:p>
          <a:p>
            <a:pPr>
              <a:defRPr sz="1400"/>
            </a:pPr>
            <a:r>
              <a:t>• Compétences IBM i préservées</a:t>
            </a:r>
          </a:p>
          <a:p>
            <a:pPr>
              <a:defRPr sz="1400"/>
            </a:pPr>
            <a:r>
              <a:t>• Évolution progressive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avec Alternatives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3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Critère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Spyre sur P11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Cloud IA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Serveurs x86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Coût 3 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350K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600K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450K €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Performance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Excellente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Moyenne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Intégration IBM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 externe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Complexe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50-200ms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10-50ms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Sécurité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Locale</a:t>
                      </a:r>
                    </a:p>
                  </a:txBody>
                  <a:tcPr/>
                </a:tc>
              </a:tr>
              <a:tr h="653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Compétences requises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IBM i existantes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Cloud +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x86 + ML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Témoignages Clients (Anonymisés)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Banque européenne: 'Détection fraude 95% plus rapide, ROI en 16 mois'</a:t>
            </a:r>
          </a:p>
          <a:p>
            <a:pPr>
              <a:defRPr sz="1800"/>
            </a:pPr>
            <a:r>
              <a:t>Manufacturier: 'Réduction 30% ruptures stock, 1.2M€ économisés/an'</a:t>
            </a:r>
          </a:p>
          <a:p>
            <a:pPr>
              <a:defRPr sz="1800"/>
            </a:pPr>
            <a:r>
              <a:t>Assureur: 'Traitement documents 80% plus rapide, 10 ETP économisés'</a:t>
            </a:r>
          </a:p>
          <a:p>
            <a:pPr>
              <a:defRPr sz="1800"/>
            </a:pPr>
            <a:r>
              <a:t>Retailer: 'Recommandations temps réel, +25% panier moyen'</a:t>
            </a:r>
          </a:p>
          <a:p>
            <a:pPr>
              <a:defRPr sz="1800"/>
            </a:pPr>
            <a:r>
              <a:t>Industriel: 'Maintenance prédictive, -45% arrêts, 2M€ économisés/an'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Atelier découverte: Identification cas d'usage prioritaires (1 jour)</a:t>
            </a:r>
          </a:p>
          <a:p>
            <a:pPr>
              <a:defRPr sz="1800"/>
            </a:pPr>
            <a:r>
              <a:t>2. Démonstration technique: POC sur vos données (2 jours)</a:t>
            </a:r>
          </a:p>
          <a:p>
            <a:pPr>
              <a:defRPr sz="1800"/>
            </a:pPr>
            <a:r>
              <a:t>3. Étude ROI personnalisée: Calcul bénéfices spécifiques (1 semaine)</a:t>
            </a:r>
          </a:p>
          <a:p>
            <a:pPr>
              <a:defRPr sz="1800"/>
            </a:pPr>
            <a:r>
              <a:t>4. Proposition commerciale détaillée: Devis et planning (1 semaine)</a:t>
            </a:r>
          </a:p>
          <a:p>
            <a:pPr>
              <a:defRPr sz="1800"/>
            </a:pPr>
            <a:r>
              <a:t>5. Démarrage projet: Commande et kick-off (selon planning)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et Accompagnement IBM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SUPPORT TECHNIQUE:</a:t>
            </a:r>
          </a:p>
          <a:p>
            <a:pPr>
              <a:defRPr sz="1400"/>
            </a:pPr>
            <a:r>
              <a:t>• Hotline dédiée Spyre</a:t>
            </a:r>
          </a:p>
          <a:p>
            <a:pPr>
              <a:defRPr sz="1400"/>
            </a:pPr>
            <a:r>
              <a:t>• Accès portail support IBM</a:t>
            </a:r>
          </a:p>
          <a:p>
            <a:pPr>
              <a:defRPr sz="1400"/>
            </a:pPr>
            <a:r>
              <a:t>• Mises à jour firmware/software</a:t>
            </a:r>
          </a:p>
          <a:p>
            <a:pPr>
              <a:defRPr sz="1400"/>
            </a:pPr>
            <a:r>
              <a:t>• Documentation complète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FORMATION:</a:t>
            </a:r>
          </a:p>
          <a:p>
            <a:pPr>
              <a:defRPr sz="1400"/>
            </a:pPr>
            <a:r>
              <a:t>• IBM Skills Gateway</a:t>
            </a:r>
          </a:p>
          <a:p>
            <a:pPr>
              <a:defRPr sz="1400"/>
            </a:pPr>
            <a:r>
              <a:t>• Cours Spyre SDK</a:t>
            </a:r>
          </a:p>
          <a:p>
            <a:pPr>
              <a:defRPr sz="1400"/>
            </a:pPr>
            <a:r>
              <a:t>• Workshops techniques</a:t>
            </a:r>
          </a:p>
          <a:p>
            <a:pPr>
              <a:defRPr sz="1400"/>
            </a:pPr>
            <a:r>
              <a:t>• Certification disponible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ÉCOSYSTÈME PARTENAIRES:</a:t>
            </a:r>
          </a:p>
          <a:p>
            <a:pPr>
              <a:defRPr sz="1400"/>
            </a:pPr>
            <a:r>
              <a:t>• Intégrateurs certifiés</a:t>
            </a:r>
          </a:p>
          <a:p>
            <a:pPr>
              <a:defRPr sz="1400"/>
            </a:pPr>
            <a:r>
              <a:t>• ISV avec solutions ML</a:t>
            </a:r>
          </a:p>
          <a:p>
            <a:pPr>
              <a:defRPr sz="1400"/>
            </a:pPr>
            <a:r>
              <a:t>• Communauté développeurs</a:t>
            </a:r>
          </a:p>
          <a:p>
            <a:pPr>
              <a:defRPr sz="1400"/>
            </a:pPr>
            <a:r>
              <a:t>• Forums et ressources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ÉVOLUTION PRODUIT:</a:t>
            </a:r>
          </a:p>
          <a:p>
            <a:pPr>
              <a:defRPr sz="1400"/>
            </a:pPr>
            <a:r>
              <a:t>• Roadmap Spyre publique</a:t>
            </a:r>
          </a:p>
          <a:p>
            <a:pPr>
              <a:defRPr sz="1400"/>
            </a:pPr>
            <a:r>
              <a:t>• Nouvelles fonctionnalités</a:t>
            </a:r>
          </a:p>
          <a:p>
            <a:pPr>
              <a:defRPr sz="1400"/>
            </a:pPr>
            <a:r>
              <a:t>• Compatibilité garantie</a:t>
            </a:r>
          </a:p>
          <a:p>
            <a:pPr>
              <a:defRPr sz="1400"/>
            </a:pPr>
            <a:r>
              <a:t>• Migration facilitée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et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Équipe IBM Power Systems France</a:t>
            </a:r>
          </a:p>
          <a:p>
            <a:pPr>
              <a:defRPr sz="1800"/>
            </a:pPr>
            <a:r>
              <a:t>Email: power-sales-france@ibm.com</a:t>
            </a:r>
          </a:p>
          <a:p>
            <a:pPr>
              <a:defRPr sz="1800"/>
            </a:pPr>
            <a:r>
              <a:t>Téléphone: +33 1 XX XX XX XX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Ressources en ligne:</a:t>
            </a:r>
          </a:p>
          <a:p>
            <a:pPr>
              <a:defRPr sz="1800"/>
            </a:pPr>
            <a:r>
              <a:t>• ibm.com/power/spyre</a:t>
            </a:r>
          </a:p>
          <a:p>
            <a:pPr>
              <a:defRPr sz="1800"/>
            </a:pPr>
            <a:r>
              <a:t>• Documentation technique: ibm.com/docs/power11</a:t>
            </a:r>
          </a:p>
          <a:p>
            <a:pPr>
              <a:defRPr sz="1800"/>
            </a:pPr>
            <a:r>
              <a:t>• Communauté: community.ibm.com/power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Merci de votre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